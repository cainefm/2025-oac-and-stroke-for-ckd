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616700" cy="4210050"/>
  <p:notesSz cx="6616700" cy="42100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0"/>
    <p:restoredTop sz="94697"/>
  </p:normalViewPr>
  <p:slideViewPr>
    <p:cSldViewPr>
      <p:cViewPr varScale="1">
        <p:scale>
          <a:sx n="162" d="100"/>
          <a:sy n="162" d="100"/>
        </p:scale>
        <p:origin x="1548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6252" y="1305115"/>
            <a:ext cx="5624195" cy="884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eciliaLTPro-85Heavy"/>
                <a:cs typeface="CaeciliaLTPro-85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92505" y="2357628"/>
            <a:ext cx="4631690" cy="1052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eciliaLTPro-85Heavy"/>
                <a:cs typeface="CaeciliaLTPro-85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eciliaLTPro-85Heavy"/>
                <a:cs typeface="CaeciliaLTPro-85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30835" y="968311"/>
            <a:ext cx="2878264" cy="2778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407600" y="968311"/>
            <a:ext cx="2878264" cy="2778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eciliaLTPro-85Heavy"/>
                <a:cs typeface="CaeciliaLTPro-85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42" y="841679"/>
            <a:ext cx="6477000" cy="2779395"/>
          </a:xfrm>
          <a:custGeom>
            <a:avLst/>
            <a:gdLst/>
            <a:ahLst/>
            <a:cxnLst/>
            <a:rect l="l" t="t" r="r" b="b"/>
            <a:pathLst>
              <a:path w="6477000" h="2779395">
                <a:moveTo>
                  <a:pt x="6476923" y="0"/>
                </a:moveTo>
                <a:lnTo>
                  <a:pt x="0" y="0"/>
                </a:lnTo>
                <a:lnTo>
                  <a:pt x="0" y="2779268"/>
                </a:lnTo>
                <a:lnTo>
                  <a:pt x="6476923" y="2779268"/>
                </a:lnTo>
                <a:lnTo>
                  <a:pt x="6476923" y="0"/>
                </a:lnTo>
                <a:close/>
              </a:path>
            </a:pathLst>
          </a:custGeom>
          <a:solidFill>
            <a:srgbClr val="F0E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20" y="1650085"/>
            <a:ext cx="1744980" cy="1971039"/>
          </a:xfrm>
          <a:custGeom>
            <a:avLst/>
            <a:gdLst/>
            <a:ahLst/>
            <a:cxnLst/>
            <a:rect l="l" t="t" r="r" b="b"/>
            <a:pathLst>
              <a:path w="1744980" h="1971039">
                <a:moveTo>
                  <a:pt x="1744548" y="0"/>
                </a:moveTo>
                <a:lnTo>
                  <a:pt x="0" y="0"/>
                </a:lnTo>
                <a:lnTo>
                  <a:pt x="0" y="1970862"/>
                </a:lnTo>
                <a:lnTo>
                  <a:pt x="1744548" y="1970862"/>
                </a:lnTo>
                <a:lnTo>
                  <a:pt x="1744548" y="0"/>
                </a:lnTo>
                <a:close/>
              </a:path>
            </a:pathLst>
          </a:custGeom>
          <a:solidFill>
            <a:srgbClr val="C8C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723" y="841684"/>
            <a:ext cx="1744980" cy="1036955"/>
          </a:xfrm>
          <a:custGeom>
            <a:avLst/>
            <a:gdLst/>
            <a:ahLst/>
            <a:cxnLst/>
            <a:rect l="l" t="t" r="r" b="b"/>
            <a:pathLst>
              <a:path w="1744980" h="1036955">
                <a:moveTo>
                  <a:pt x="1744548" y="0"/>
                </a:moveTo>
                <a:lnTo>
                  <a:pt x="0" y="0"/>
                </a:lnTo>
                <a:lnTo>
                  <a:pt x="0" y="833742"/>
                </a:lnTo>
                <a:lnTo>
                  <a:pt x="851509" y="1036459"/>
                </a:lnTo>
                <a:lnTo>
                  <a:pt x="1744548" y="833742"/>
                </a:lnTo>
                <a:lnTo>
                  <a:pt x="1744548" y="0"/>
                </a:lnTo>
                <a:close/>
              </a:path>
            </a:pathLst>
          </a:custGeom>
          <a:solidFill>
            <a:srgbClr val="DEB7A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330" y="3341251"/>
            <a:ext cx="6476936" cy="80550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7330" y="3620947"/>
            <a:ext cx="6477000" cy="526415"/>
          </a:xfrm>
          <a:custGeom>
            <a:avLst/>
            <a:gdLst/>
            <a:ahLst/>
            <a:cxnLst/>
            <a:rect l="l" t="t" r="r" b="b"/>
            <a:pathLst>
              <a:path w="6477000" h="526414">
                <a:moveTo>
                  <a:pt x="323494" y="0"/>
                </a:moveTo>
                <a:lnTo>
                  <a:pt x="0" y="0"/>
                </a:lnTo>
                <a:lnTo>
                  <a:pt x="0" y="525805"/>
                </a:lnTo>
                <a:lnTo>
                  <a:pt x="323494" y="525805"/>
                </a:lnTo>
                <a:lnTo>
                  <a:pt x="323494" y="0"/>
                </a:lnTo>
                <a:close/>
              </a:path>
              <a:path w="6477000" h="526414">
                <a:moveTo>
                  <a:pt x="6476936" y="0"/>
                </a:moveTo>
                <a:lnTo>
                  <a:pt x="1386205" y="0"/>
                </a:lnTo>
                <a:lnTo>
                  <a:pt x="1386205" y="525805"/>
                </a:lnTo>
                <a:lnTo>
                  <a:pt x="6476936" y="525805"/>
                </a:lnTo>
                <a:lnTo>
                  <a:pt x="6476936" y="0"/>
                </a:lnTo>
                <a:close/>
              </a:path>
            </a:pathLst>
          </a:custGeom>
          <a:solidFill>
            <a:srgbClr val="AB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30" y="59689"/>
            <a:ext cx="6476936" cy="106261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7330" y="59715"/>
            <a:ext cx="6477000" cy="782320"/>
          </a:xfrm>
          <a:custGeom>
            <a:avLst/>
            <a:gdLst/>
            <a:ahLst/>
            <a:cxnLst/>
            <a:rect l="l" t="t" r="r" b="b"/>
            <a:pathLst>
              <a:path w="6477000" h="782319">
                <a:moveTo>
                  <a:pt x="328485" y="0"/>
                </a:moveTo>
                <a:lnTo>
                  <a:pt x="0" y="0"/>
                </a:lnTo>
                <a:lnTo>
                  <a:pt x="0" y="781964"/>
                </a:lnTo>
                <a:lnTo>
                  <a:pt x="328485" y="781964"/>
                </a:lnTo>
                <a:lnTo>
                  <a:pt x="328485" y="0"/>
                </a:lnTo>
                <a:close/>
              </a:path>
              <a:path w="6477000" h="782319">
                <a:moveTo>
                  <a:pt x="6476936" y="0"/>
                </a:moveTo>
                <a:lnTo>
                  <a:pt x="1381201" y="0"/>
                </a:lnTo>
                <a:lnTo>
                  <a:pt x="1381201" y="781964"/>
                </a:lnTo>
                <a:lnTo>
                  <a:pt x="6476936" y="781964"/>
                </a:lnTo>
                <a:lnTo>
                  <a:pt x="6476936" y="0"/>
                </a:lnTo>
                <a:close/>
              </a:path>
            </a:pathLst>
          </a:custGeom>
          <a:solidFill>
            <a:srgbClr val="AB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00824" y="59715"/>
            <a:ext cx="1062990" cy="4087495"/>
          </a:xfrm>
          <a:custGeom>
            <a:avLst/>
            <a:gdLst/>
            <a:ahLst/>
            <a:cxnLst/>
            <a:rect l="l" t="t" r="r" b="b"/>
            <a:pathLst>
              <a:path w="1062990" h="4087495">
                <a:moveTo>
                  <a:pt x="1057706" y="0"/>
                </a:moveTo>
                <a:lnTo>
                  <a:pt x="4991" y="0"/>
                </a:lnTo>
                <a:lnTo>
                  <a:pt x="4991" y="781964"/>
                </a:lnTo>
                <a:lnTo>
                  <a:pt x="1057706" y="781964"/>
                </a:lnTo>
                <a:lnTo>
                  <a:pt x="1057706" y="0"/>
                </a:lnTo>
                <a:close/>
              </a:path>
              <a:path w="1062990" h="4087495">
                <a:moveTo>
                  <a:pt x="1062710" y="3561232"/>
                </a:moveTo>
                <a:lnTo>
                  <a:pt x="0" y="3561232"/>
                </a:lnTo>
                <a:lnTo>
                  <a:pt x="0" y="4087037"/>
                </a:lnTo>
                <a:lnTo>
                  <a:pt x="1062710" y="4087037"/>
                </a:lnTo>
                <a:lnTo>
                  <a:pt x="1062710" y="3561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6228" y="201191"/>
            <a:ext cx="97282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eciliaLTPro-85Heavy"/>
                <a:cs typeface="CaeciliaLTPro-85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835" y="968311"/>
            <a:ext cx="5955030" cy="2778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49678" y="3915346"/>
            <a:ext cx="2117344" cy="210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30835" y="3915346"/>
            <a:ext cx="1521841" cy="210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64024" y="3915346"/>
            <a:ext cx="1521841" cy="210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5750" y="3633930"/>
            <a:ext cx="4876800" cy="441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CN" sz="900" b="1" dirty="0">
                <a:solidFill>
                  <a:srgbClr val="FFFFFF"/>
                </a:solidFill>
                <a:latin typeface="CaeciliaLTPro-75Bold"/>
                <a:cs typeface="CaeciliaLTPro-75Bold"/>
              </a:rPr>
              <a:t>T</a:t>
            </a:r>
            <a:r>
              <a:rPr lang="en-HK" altLang="zh-CN" sz="900" b="1" dirty="0">
                <a:solidFill>
                  <a:srgbClr val="FFFFFF"/>
                </a:solidFill>
                <a:latin typeface="CaeciliaLTPro-75Bold"/>
                <a:cs typeface="CaeciliaLTPro-75Bold"/>
              </a:rPr>
              <a:t>he </a:t>
            </a:r>
            <a:r>
              <a:rPr lang="en-US" sz="900" b="1" dirty="0">
                <a:solidFill>
                  <a:srgbClr val="FFFFFF"/>
                </a:solidFill>
                <a:latin typeface="CaeciliaLTPro-75Bold"/>
                <a:cs typeface="CaeciliaLTPro-75Bold"/>
              </a:rPr>
              <a:t>initiation of oral anticoagulants was not associated with a significant reduction in the risk of stroke, mortality, or major bleeding. 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CaeciliaLTPro-75Bold"/>
                <a:cs typeface="CaeciliaLTPro-75Bold"/>
              </a:rPr>
              <a:t>The benefits of OACs in this high-risk population remain uncertain.</a:t>
            </a:r>
            <a:endParaRPr sz="900" dirty="0">
              <a:latin typeface="CaeciliaLTPro-75Bold"/>
              <a:cs typeface="CaeciliaLTPro-75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5750" y="201191"/>
            <a:ext cx="4876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dirty="0"/>
              <a:t>Effectiveness and safety of oral anticoagulant use in dialysis patients with atrial fibrillation or atrial flutter in Hong Kong</a:t>
            </a:r>
            <a:br>
              <a:rPr lang="en-GB" sz="1200" dirty="0"/>
            </a:br>
            <a:r>
              <a:rPr lang="en-GB" sz="1200" dirty="0"/>
              <a:t>- </a:t>
            </a:r>
            <a:r>
              <a:rPr lang="de-DE" sz="1200" dirty="0"/>
              <a:t>a sequential target trial emulation</a:t>
            </a:r>
            <a:endParaRPr sz="1200"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78123" y="1015709"/>
            <a:ext cx="1600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The focus of this study is to evaluate the effectiveness and safety of oral anticoagulant (OAC) initiation in the </a:t>
            </a:r>
            <a:r>
              <a:rPr lang="en-US" altLang="zh-CN" sz="8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dialysis</a:t>
            </a:r>
            <a:r>
              <a:rPr lang="en-US" sz="8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 patient population in Hong Kong.</a:t>
            </a:r>
            <a:endParaRPr sz="800" b="1" dirty="0">
              <a:latin typeface="CaeciliaLTPro-75Bold"/>
              <a:cs typeface="CaeciliaLTPro-75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571" y="1878416"/>
            <a:ext cx="6333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AB3B3D"/>
                </a:solidFill>
                <a:latin typeface="CaeciliaLTPro-75Bold"/>
              </a:rPr>
              <a:t>Method</a:t>
            </a:r>
            <a:r>
              <a:rPr lang="en-GB" sz="1000" b="1" spc="-10" dirty="0">
                <a:solidFill>
                  <a:srgbClr val="AB3B3D"/>
                </a:solidFill>
                <a:latin typeface="CaeciliaLTPro-75Bold"/>
              </a:rPr>
              <a:t>s</a:t>
            </a:r>
            <a:endParaRPr sz="1000" dirty="0">
              <a:latin typeface="CaeciliaLTPro-75Bold"/>
              <a:cs typeface="CaeciliaLTPro-75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208" y="3707235"/>
            <a:ext cx="100965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7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Cheng, FWT. et al.</a:t>
            </a:r>
            <a:endParaRPr sz="700" dirty="0">
              <a:latin typeface="CaeciliaLTPro-76BoldItalic"/>
              <a:cs typeface="CaeciliaLTPro-76BoldItalic"/>
            </a:endParaRPr>
          </a:p>
          <a:p>
            <a:pPr algn="ctr">
              <a:lnSpc>
                <a:spcPct val="100000"/>
              </a:lnSpc>
            </a:pPr>
            <a:r>
              <a:rPr lang="en-US" altLang="zh-CN" sz="700" b="1" i="1" dirty="0">
                <a:solidFill>
                  <a:srgbClr val="231F20"/>
                </a:solidFill>
                <a:latin typeface="CaeciliaLTPro-76BoldItalic"/>
                <a:cs typeface="CaeciliaLTPro-76BoldItalic"/>
              </a:rPr>
              <a:t>NDT</a:t>
            </a:r>
            <a:r>
              <a:rPr lang="en-US" altLang="zh-CN" sz="700" i="1" dirty="0">
                <a:latin typeface="CaeciliaLTPro-76BoldItalic"/>
                <a:cs typeface="CaeciliaLTPro-76BoldItalic"/>
              </a:rPr>
              <a:t> </a:t>
            </a:r>
            <a:r>
              <a:rPr sz="7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(202</a:t>
            </a:r>
            <a:r>
              <a:rPr lang="en-GB" sz="7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5</a:t>
            </a:r>
            <a:r>
              <a:rPr sz="700" b="1" dirty="0">
                <a:solidFill>
                  <a:srgbClr val="231F20"/>
                </a:solidFill>
                <a:latin typeface="CaeciliaLTPro-75Bold"/>
                <a:cs typeface="CaeciliaLTPro-75Bold"/>
              </a:rPr>
              <a:t>) </a:t>
            </a:r>
            <a:endParaRPr lang="en-GB" sz="700" b="1" dirty="0">
              <a:solidFill>
                <a:srgbClr val="231F20"/>
              </a:solidFill>
              <a:latin typeface="CaeciliaLTPro-75Bold"/>
              <a:cs typeface="CaeciliaLTPro-75Bold"/>
            </a:endParaRPr>
          </a:p>
          <a:p>
            <a:pPr algn="ctr">
              <a:lnSpc>
                <a:spcPct val="100000"/>
              </a:lnSpc>
            </a:pPr>
            <a:r>
              <a:rPr sz="700" b="1" spc="-10" dirty="0">
                <a:solidFill>
                  <a:srgbClr val="231F20"/>
                </a:solidFill>
                <a:latin typeface="CaeciliaLTPro-75Bold"/>
                <a:cs typeface="CaeciliaLTPro-75Bold"/>
              </a:rPr>
              <a:t>@NDTSocial</a:t>
            </a:r>
            <a:endParaRPr sz="700" dirty="0">
              <a:latin typeface="CaeciliaLTPro-75Bold"/>
              <a:cs typeface="CaeciliaLTPro-75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4408" y="867641"/>
            <a:ext cx="55797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AB3B3D"/>
                </a:solidFill>
                <a:latin typeface="CaeciliaLTPro-75Bold"/>
                <a:cs typeface="CaeciliaLTPro-75Bold"/>
              </a:rPr>
              <a:t>Results</a:t>
            </a:r>
            <a:endParaRPr sz="1000" dirty="0">
              <a:latin typeface="CaeciliaLTPro-75Bold"/>
              <a:cs typeface="CaeciliaLTPro-75Bold"/>
            </a:endParaRP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92A7E722-5232-3398-DEEF-5EB3275727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6" t="16121" r="15890" b="415"/>
          <a:stretch/>
        </p:blipFill>
        <p:spPr>
          <a:xfrm>
            <a:off x="553099" y="83671"/>
            <a:ext cx="850251" cy="725954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2DF1482A-D269-FDEC-D12D-9A700C508D4A}"/>
              </a:ext>
            </a:extLst>
          </p:cNvPr>
          <p:cNvSpPr txBox="1"/>
          <p:nvPr/>
        </p:nvSpPr>
        <p:spPr>
          <a:xfrm>
            <a:off x="717550" y="848997"/>
            <a:ext cx="6333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b="1" spc="-10" dirty="0">
                <a:solidFill>
                  <a:srgbClr val="AB3B3D"/>
                </a:solidFill>
                <a:latin typeface="CaeciliaLTPro-75Bold"/>
              </a:rPr>
              <a:t>Aims</a:t>
            </a:r>
            <a:endParaRPr sz="1000" dirty="0">
              <a:latin typeface="CaeciliaLTPro-75Bold"/>
              <a:cs typeface="CaeciliaLTPro-75Bold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C15EC4-1E14-893A-E61A-B1EC14EF366C}"/>
              </a:ext>
            </a:extLst>
          </p:cNvPr>
          <p:cNvGrpSpPr/>
          <p:nvPr/>
        </p:nvGrpSpPr>
        <p:grpSpPr>
          <a:xfrm>
            <a:off x="695365" y="2055842"/>
            <a:ext cx="446580" cy="190278"/>
            <a:chOff x="1422503" y="1192035"/>
            <a:chExt cx="4564884" cy="194499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F0A1679-5EF8-B37D-1465-A5C99CFAF761}"/>
                </a:ext>
              </a:extLst>
            </p:cNvPr>
            <p:cNvSpPr/>
            <p:nvPr/>
          </p:nvSpPr>
          <p:spPr>
            <a:xfrm>
              <a:off x="2946996" y="1194538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5198396-D0E0-3D90-5E1A-5B8796DD6AAC}"/>
                </a:ext>
              </a:extLst>
            </p:cNvPr>
            <p:cNvSpPr/>
            <p:nvPr/>
          </p:nvSpPr>
          <p:spPr>
            <a:xfrm>
              <a:off x="1695390" y="1194538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24428F-D7C7-1CFC-7EAD-F3A97F899587}"/>
                </a:ext>
              </a:extLst>
            </p:cNvPr>
            <p:cNvSpPr/>
            <p:nvPr/>
          </p:nvSpPr>
          <p:spPr>
            <a:xfrm>
              <a:off x="2321193" y="1194538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1832275-B583-2DA0-F18E-1127811E8BE1}"/>
                </a:ext>
              </a:extLst>
            </p:cNvPr>
            <p:cNvSpPr/>
            <p:nvPr/>
          </p:nvSpPr>
          <p:spPr>
            <a:xfrm>
              <a:off x="2053313" y="1597555"/>
              <a:ext cx="891065" cy="1539475"/>
            </a:xfrm>
            <a:custGeom>
              <a:avLst/>
              <a:gdLst>
                <a:gd name="connsiteX0" fmla="*/ 888676 w 891065"/>
                <a:gd name="connsiteY0" fmla="*/ 588255 h 1539475"/>
                <a:gd name="connsiteX1" fmla="*/ 776032 w 891065"/>
                <a:gd name="connsiteY1" fmla="*/ 172722 h 1539475"/>
                <a:gd name="connsiteX2" fmla="*/ 753503 w 891065"/>
                <a:gd name="connsiteY2" fmla="*/ 132670 h 1539475"/>
                <a:gd name="connsiteX3" fmla="*/ 580781 w 891065"/>
                <a:gd name="connsiteY3" fmla="*/ 22529 h 1539475"/>
                <a:gd name="connsiteX4" fmla="*/ 445608 w 891065"/>
                <a:gd name="connsiteY4" fmla="*/ 0 h 1539475"/>
                <a:gd name="connsiteX5" fmla="*/ 310434 w 891065"/>
                <a:gd name="connsiteY5" fmla="*/ 22529 h 1539475"/>
                <a:gd name="connsiteX6" fmla="*/ 137713 w 891065"/>
                <a:gd name="connsiteY6" fmla="*/ 132670 h 1539475"/>
                <a:gd name="connsiteX7" fmla="*/ 115184 w 891065"/>
                <a:gd name="connsiteY7" fmla="*/ 172722 h 1539475"/>
                <a:gd name="connsiteX8" fmla="*/ 2539 w 891065"/>
                <a:gd name="connsiteY8" fmla="*/ 588255 h 1539475"/>
                <a:gd name="connsiteX9" fmla="*/ 55107 w 891065"/>
                <a:gd name="connsiteY9" fmla="*/ 683377 h 1539475"/>
                <a:gd name="connsiteX10" fmla="*/ 75132 w 891065"/>
                <a:gd name="connsiteY10" fmla="*/ 685880 h 1539475"/>
                <a:gd name="connsiteX11" fmla="*/ 147725 w 891065"/>
                <a:gd name="connsiteY11" fmla="*/ 630810 h 1539475"/>
                <a:gd name="connsiteX12" fmla="*/ 247854 w 891065"/>
                <a:gd name="connsiteY12" fmla="*/ 265341 h 1539475"/>
                <a:gd name="connsiteX13" fmla="*/ 247854 w 891065"/>
                <a:gd name="connsiteY13" fmla="*/ 1539476 h 1539475"/>
                <a:gd name="connsiteX14" fmla="*/ 398047 w 891065"/>
                <a:gd name="connsiteY14" fmla="*/ 1539476 h 1539475"/>
                <a:gd name="connsiteX15" fmla="*/ 398047 w 891065"/>
                <a:gd name="connsiteY15" fmla="*/ 823557 h 1539475"/>
                <a:gd name="connsiteX16" fmla="*/ 498175 w 891065"/>
                <a:gd name="connsiteY16" fmla="*/ 823557 h 1539475"/>
                <a:gd name="connsiteX17" fmla="*/ 498175 w 891065"/>
                <a:gd name="connsiteY17" fmla="*/ 1536972 h 1539475"/>
                <a:gd name="connsiteX18" fmla="*/ 648368 w 891065"/>
                <a:gd name="connsiteY18" fmla="*/ 1536972 h 1539475"/>
                <a:gd name="connsiteX19" fmla="*/ 648368 w 891065"/>
                <a:gd name="connsiteY19" fmla="*/ 265341 h 1539475"/>
                <a:gd name="connsiteX20" fmla="*/ 748496 w 891065"/>
                <a:gd name="connsiteY20" fmla="*/ 630810 h 1539475"/>
                <a:gd name="connsiteX21" fmla="*/ 821090 w 891065"/>
                <a:gd name="connsiteY21" fmla="*/ 685880 h 1539475"/>
                <a:gd name="connsiteX22" fmla="*/ 841115 w 891065"/>
                <a:gd name="connsiteY22" fmla="*/ 683377 h 1539475"/>
                <a:gd name="connsiteX23" fmla="*/ 888676 w 891065"/>
                <a:gd name="connsiteY23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1065" h="1539475">
                  <a:moveTo>
                    <a:pt x="888676" y="588255"/>
                  </a:moveTo>
                  <a:lnTo>
                    <a:pt x="776032" y="172722"/>
                  </a:lnTo>
                  <a:cubicBezTo>
                    <a:pt x="771025" y="157702"/>
                    <a:pt x="763516" y="142683"/>
                    <a:pt x="753503" y="132670"/>
                  </a:cubicBezTo>
                  <a:cubicBezTo>
                    <a:pt x="705942" y="82606"/>
                    <a:pt x="645865" y="45058"/>
                    <a:pt x="580781" y="22529"/>
                  </a:cubicBezTo>
                  <a:cubicBezTo>
                    <a:pt x="538227" y="7510"/>
                    <a:pt x="493169" y="0"/>
                    <a:pt x="445608" y="0"/>
                  </a:cubicBezTo>
                  <a:cubicBezTo>
                    <a:pt x="398047" y="0"/>
                    <a:pt x="352989" y="7510"/>
                    <a:pt x="310434" y="22529"/>
                  </a:cubicBezTo>
                  <a:cubicBezTo>
                    <a:pt x="242848" y="45058"/>
                    <a:pt x="185274" y="82606"/>
                    <a:pt x="137713" y="132670"/>
                  </a:cubicBezTo>
                  <a:cubicBezTo>
                    <a:pt x="127700" y="145186"/>
                    <a:pt x="120190" y="157702"/>
                    <a:pt x="115184" y="172722"/>
                  </a:cubicBezTo>
                  <a:lnTo>
                    <a:pt x="2539" y="588255"/>
                  </a:lnTo>
                  <a:cubicBezTo>
                    <a:pt x="-7474" y="628306"/>
                    <a:pt x="12552" y="673364"/>
                    <a:pt x="55107" y="683377"/>
                  </a:cubicBezTo>
                  <a:cubicBezTo>
                    <a:pt x="62616" y="685880"/>
                    <a:pt x="67623" y="685880"/>
                    <a:pt x="75132" y="685880"/>
                  </a:cubicBezTo>
                  <a:cubicBezTo>
                    <a:pt x="107674" y="685880"/>
                    <a:pt x="137713" y="663351"/>
                    <a:pt x="147725" y="630810"/>
                  </a:cubicBezTo>
                  <a:lnTo>
                    <a:pt x="247854" y="265341"/>
                  </a:lnTo>
                  <a:lnTo>
                    <a:pt x="247854" y="1539476"/>
                  </a:lnTo>
                  <a:lnTo>
                    <a:pt x="398047" y="1539476"/>
                  </a:lnTo>
                  <a:lnTo>
                    <a:pt x="398047" y="823557"/>
                  </a:lnTo>
                  <a:lnTo>
                    <a:pt x="498175" y="823557"/>
                  </a:lnTo>
                  <a:lnTo>
                    <a:pt x="498175" y="1536972"/>
                  </a:lnTo>
                  <a:lnTo>
                    <a:pt x="648368" y="1536972"/>
                  </a:lnTo>
                  <a:lnTo>
                    <a:pt x="648368" y="265341"/>
                  </a:lnTo>
                  <a:lnTo>
                    <a:pt x="748496" y="630810"/>
                  </a:lnTo>
                  <a:cubicBezTo>
                    <a:pt x="758509" y="663351"/>
                    <a:pt x="788548" y="685880"/>
                    <a:pt x="821090" y="685880"/>
                  </a:cubicBezTo>
                  <a:cubicBezTo>
                    <a:pt x="828599" y="685880"/>
                    <a:pt x="833606" y="685880"/>
                    <a:pt x="841115" y="683377"/>
                  </a:cubicBezTo>
                  <a:cubicBezTo>
                    <a:pt x="876160" y="673364"/>
                    <a:pt x="898689" y="628306"/>
                    <a:pt x="888676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0B8A58-1E18-2AA9-9018-9E079219993B}"/>
                </a:ext>
              </a:extLst>
            </p:cNvPr>
            <p:cNvSpPr/>
            <p:nvPr/>
          </p:nvSpPr>
          <p:spPr>
            <a:xfrm>
              <a:off x="1422503" y="1595052"/>
              <a:ext cx="723464" cy="1541978"/>
            </a:xfrm>
            <a:custGeom>
              <a:avLst/>
              <a:gdLst>
                <a:gd name="connsiteX0" fmla="*/ 580781 w 723464"/>
                <a:gd name="connsiteY0" fmla="*/ 578242 h 1541978"/>
                <a:gd name="connsiteX1" fmla="*/ 693426 w 723464"/>
                <a:gd name="connsiteY1" fmla="*/ 162709 h 1541978"/>
                <a:gd name="connsiteX2" fmla="*/ 723464 w 723464"/>
                <a:gd name="connsiteY2" fmla="*/ 102632 h 1541978"/>
                <a:gd name="connsiteX3" fmla="*/ 580781 w 723464"/>
                <a:gd name="connsiteY3" fmla="*/ 22529 h 1541978"/>
                <a:gd name="connsiteX4" fmla="*/ 445608 w 723464"/>
                <a:gd name="connsiteY4" fmla="*/ 0 h 1541978"/>
                <a:gd name="connsiteX5" fmla="*/ 310434 w 723464"/>
                <a:gd name="connsiteY5" fmla="*/ 22529 h 1541978"/>
                <a:gd name="connsiteX6" fmla="*/ 137713 w 723464"/>
                <a:gd name="connsiteY6" fmla="*/ 132670 h 1541978"/>
                <a:gd name="connsiteX7" fmla="*/ 115184 w 723464"/>
                <a:gd name="connsiteY7" fmla="*/ 172722 h 1541978"/>
                <a:gd name="connsiteX8" fmla="*/ 2539 w 723464"/>
                <a:gd name="connsiteY8" fmla="*/ 590758 h 1541978"/>
                <a:gd name="connsiteX9" fmla="*/ 55107 w 723464"/>
                <a:gd name="connsiteY9" fmla="*/ 685880 h 1541978"/>
                <a:gd name="connsiteX10" fmla="*/ 75132 w 723464"/>
                <a:gd name="connsiteY10" fmla="*/ 688383 h 1541978"/>
                <a:gd name="connsiteX11" fmla="*/ 147725 w 723464"/>
                <a:gd name="connsiteY11" fmla="*/ 633313 h 1541978"/>
                <a:gd name="connsiteX12" fmla="*/ 247854 w 723464"/>
                <a:gd name="connsiteY12" fmla="*/ 267844 h 1541978"/>
                <a:gd name="connsiteX13" fmla="*/ 247854 w 723464"/>
                <a:gd name="connsiteY13" fmla="*/ 1541979 h 1541978"/>
                <a:gd name="connsiteX14" fmla="*/ 398047 w 723464"/>
                <a:gd name="connsiteY14" fmla="*/ 1541979 h 1541978"/>
                <a:gd name="connsiteX15" fmla="*/ 398047 w 723464"/>
                <a:gd name="connsiteY15" fmla="*/ 826060 h 1541978"/>
                <a:gd name="connsiteX16" fmla="*/ 498175 w 723464"/>
                <a:gd name="connsiteY16" fmla="*/ 826060 h 1541978"/>
                <a:gd name="connsiteX17" fmla="*/ 498175 w 723464"/>
                <a:gd name="connsiteY17" fmla="*/ 1539476 h 1541978"/>
                <a:gd name="connsiteX18" fmla="*/ 648368 w 723464"/>
                <a:gd name="connsiteY18" fmla="*/ 1539476 h 1541978"/>
                <a:gd name="connsiteX19" fmla="*/ 648368 w 723464"/>
                <a:gd name="connsiteY19" fmla="*/ 728435 h 1541978"/>
                <a:gd name="connsiteX20" fmla="*/ 580781 w 723464"/>
                <a:gd name="connsiteY20" fmla="*/ 578242 h 154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3464" h="1541978">
                  <a:moveTo>
                    <a:pt x="580781" y="578242"/>
                  </a:moveTo>
                  <a:lnTo>
                    <a:pt x="693426" y="162709"/>
                  </a:lnTo>
                  <a:cubicBezTo>
                    <a:pt x="698432" y="140180"/>
                    <a:pt x="710948" y="120154"/>
                    <a:pt x="723464" y="102632"/>
                  </a:cubicBezTo>
                  <a:cubicBezTo>
                    <a:pt x="683413" y="67587"/>
                    <a:pt x="633349" y="40051"/>
                    <a:pt x="580781" y="22529"/>
                  </a:cubicBezTo>
                  <a:cubicBezTo>
                    <a:pt x="538227" y="7510"/>
                    <a:pt x="493169" y="0"/>
                    <a:pt x="445608" y="0"/>
                  </a:cubicBezTo>
                  <a:cubicBezTo>
                    <a:pt x="398047" y="0"/>
                    <a:pt x="352989" y="7510"/>
                    <a:pt x="310434" y="22529"/>
                  </a:cubicBezTo>
                  <a:cubicBezTo>
                    <a:pt x="242848" y="45058"/>
                    <a:pt x="185274" y="82606"/>
                    <a:pt x="137713" y="132670"/>
                  </a:cubicBezTo>
                  <a:cubicBezTo>
                    <a:pt x="127700" y="145186"/>
                    <a:pt x="120190" y="157702"/>
                    <a:pt x="115184" y="172722"/>
                  </a:cubicBezTo>
                  <a:lnTo>
                    <a:pt x="2539" y="590758"/>
                  </a:lnTo>
                  <a:cubicBezTo>
                    <a:pt x="-7474" y="630810"/>
                    <a:pt x="12552" y="675867"/>
                    <a:pt x="55107" y="685880"/>
                  </a:cubicBezTo>
                  <a:cubicBezTo>
                    <a:pt x="62616" y="688383"/>
                    <a:pt x="67623" y="688383"/>
                    <a:pt x="75132" y="688383"/>
                  </a:cubicBezTo>
                  <a:cubicBezTo>
                    <a:pt x="107674" y="688383"/>
                    <a:pt x="137713" y="665855"/>
                    <a:pt x="147725" y="633313"/>
                  </a:cubicBezTo>
                  <a:lnTo>
                    <a:pt x="247854" y="267844"/>
                  </a:lnTo>
                  <a:lnTo>
                    <a:pt x="247854" y="1541979"/>
                  </a:lnTo>
                  <a:lnTo>
                    <a:pt x="398047" y="1541979"/>
                  </a:lnTo>
                  <a:lnTo>
                    <a:pt x="398047" y="826060"/>
                  </a:lnTo>
                  <a:lnTo>
                    <a:pt x="498175" y="826060"/>
                  </a:lnTo>
                  <a:lnTo>
                    <a:pt x="498175" y="1539476"/>
                  </a:lnTo>
                  <a:lnTo>
                    <a:pt x="648368" y="1539476"/>
                  </a:lnTo>
                  <a:lnTo>
                    <a:pt x="648368" y="728435"/>
                  </a:lnTo>
                  <a:cubicBezTo>
                    <a:pt x="595800" y="703403"/>
                    <a:pt x="565762" y="640822"/>
                    <a:pt x="580781" y="57824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E384B0-2035-A847-5E92-3AB4B11750A2}"/>
                </a:ext>
              </a:extLst>
            </p:cNvPr>
            <p:cNvSpPr/>
            <p:nvPr/>
          </p:nvSpPr>
          <p:spPr>
            <a:xfrm>
              <a:off x="2844364" y="1597555"/>
              <a:ext cx="725786" cy="1539475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75E87F-D229-449E-C5A1-C79F2F502572}"/>
                </a:ext>
              </a:extLst>
            </p:cNvPr>
            <p:cNvSpPr/>
            <p:nvPr/>
          </p:nvSpPr>
          <p:spPr>
            <a:xfrm>
              <a:off x="3556919" y="1192035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9B89375-506F-94C7-7FEF-209F5E70BCEA}"/>
                </a:ext>
              </a:extLst>
            </p:cNvPr>
            <p:cNvSpPr/>
            <p:nvPr/>
          </p:nvSpPr>
          <p:spPr>
            <a:xfrm>
              <a:off x="3454287" y="1595052"/>
              <a:ext cx="725786" cy="1539475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A9B32A9-71F3-01BC-B5C3-18DDF3946E29}"/>
                </a:ext>
              </a:extLst>
            </p:cNvPr>
            <p:cNvSpPr/>
            <p:nvPr/>
          </p:nvSpPr>
          <p:spPr>
            <a:xfrm>
              <a:off x="4159357" y="1192035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E2CB168-05A1-391D-E288-8A980D2306A2}"/>
                </a:ext>
              </a:extLst>
            </p:cNvPr>
            <p:cNvSpPr/>
            <p:nvPr/>
          </p:nvSpPr>
          <p:spPr>
            <a:xfrm>
              <a:off x="4056725" y="1595052"/>
              <a:ext cx="725786" cy="1539475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E19E8F-24C3-8B41-31EC-B1596905FBB0}"/>
                </a:ext>
              </a:extLst>
            </p:cNvPr>
            <p:cNvSpPr/>
            <p:nvPr/>
          </p:nvSpPr>
          <p:spPr>
            <a:xfrm>
              <a:off x="4761795" y="1192035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C7C4D55-166A-FC3E-317C-2BBF800C28F4}"/>
                </a:ext>
              </a:extLst>
            </p:cNvPr>
            <p:cNvSpPr/>
            <p:nvPr/>
          </p:nvSpPr>
          <p:spPr>
            <a:xfrm>
              <a:off x="4659163" y="1595052"/>
              <a:ext cx="725786" cy="1539475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31D1E50-3B42-9FE4-36E3-C95E3A6A67AF}"/>
                </a:ext>
              </a:extLst>
            </p:cNvPr>
            <p:cNvSpPr/>
            <p:nvPr/>
          </p:nvSpPr>
          <p:spPr>
            <a:xfrm>
              <a:off x="5364233" y="1192035"/>
              <a:ext cx="350449" cy="350449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D776D8A-F680-821E-9BD6-80A8E9DC7D26}"/>
                </a:ext>
              </a:extLst>
            </p:cNvPr>
            <p:cNvSpPr/>
            <p:nvPr/>
          </p:nvSpPr>
          <p:spPr>
            <a:xfrm>
              <a:off x="5261601" y="1595052"/>
              <a:ext cx="725786" cy="1539475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4E2B13-82AF-9B82-AFD0-D409E80999CD}"/>
              </a:ext>
            </a:extLst>
          </p:cNvPr>
          <p:cNvSpPr txBox="1"/>
          <p:nvPr/>
        </p:nvSpPr>
        <p:spPr>
          <a:xfrm>
            <a:off x="167284" y="2202195"/>
            <a:ext cx="1508063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00" dirty="0">
                <a:solidFill>
                  <a:srgbClr val="231F20"/>
                </a:solidFill>
                <a:latin typeface="CaeciliaLTPro-75Bold"/>
                <a:cs typeface="CaeciliaLTPro-75Bold"/>
              </a:rPr>
              <a:t>N = </a:t>
            </a:r>
            <a:r>
              <a:rPr lang="de-DE" sz="600" dirty="0"/>
              <a:t>8,230 dialysis patients with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de-DE" sz="600" dirty="0"/>
              <a:t>incident atrial fibrillation or atrial flutter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A5F900EA-5026-F9DE-F9E1-D799A7EFE160}"/>
              </a:ext>
            </a:extLst>
          </p:cNvPr>
          <p:cNvSpPr/>
          <p:nvPr/>
        </p:nvSpPr>
        <p:spPr>
          <a:xfrm>
            <a:off x="760344" y="2452133"/>
            <a:ext cx="287659" cy="15061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879DEB-6327-8F30-D067-872B5F29CE97}"/>
              </a:ext>
            </a:extLst>
          </p:cNvPr>
          <p:cNvSpPr txBox="1"/>
          <p:nvPr/>
        </p:nvSpPr>
        <p:spPr>
          <a:xfrm>
            <a:off x="137009" y="2904518"/>
            <a:ext cx="1682428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762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de-DE" sz="600" dirty="0">
                <a:latin typeface="CaeciliaLTPro-75Bold"/>
                <a:cs typeface="CaeciliaLTPro-75Bold"/>
              </a:rPr>
              <a:t>Sequential trials with target trial emulation</a:t>
            </a:r>
          </a:p>
          <a:p>
            <a:pPr marL="88900" indent="-762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de-DE" sz="600" dirty="0">
                <a:latin typeface="CaeciliaLTPro-75Bold"/>
                <a:cs typeface="CaeciliaLTPro-75Bold"/>
              </a:rPr>
              <a:t>Propensity score 1:10 matching</a:t>
            </a:r>
            <a:endParaRPr lang="en-US" sz="600" dirty="0">
              <a:latin typeface="CaeciliaLTPro-75Bold"/>
              <a:cs typeface="CaeciliaLTPro-75Bold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592421-0E11-DFFC-804A-F450D3E4E073}"/>
              </a:ext>
            </a:extLst>
          </p:cNvPr>
          <p:cNvGrpSpPr/>
          <p:nvPr/>
        </p:nvGrpSpPr>
        <p:grpSpPr>
          <a:xfrm>
            <a:off x="287158" y="2593470"/>
            <a:ext cx="1331821" cy="410395"/>
            <a:chOff x="1958982" y="1784697"/>
            <a:chExt cx="6504606" cy="20043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2C6C31-EFE4-A9F3-03DC-E33CA3121CBD}"/>
                </a:ext>
              </a:extLst>
            </p:cNvPr>
            <p:cNvSpPr/>
            <p:nvPr/>
          </p:nvSpPr>
          <p:spPr>
            <a:xfrm>
              <a:off x="3563976" y="1784697"/>
              <a:ext cx="198897" cy="198898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6E796E-4D03-FDAF-263E-A5DABBBDADBB}"/>
                </a:ext>
              </a:extLst>
            </p:cNvPr>
            <p:cNvSpPr/>
            <p:nvPr/>
          </p:nvSpPr>
          <p:spPr>
            <a:xfrm>
              <a:off x="2853627" y="1784697"/>
              <a:ext cx="198897" cy="198898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5E2CBA0-5950-B8DE-172B-40B103192A4C}"/>
                </a:ext>
              </a:extLst>
            </p:cNvPr>
            <p:cNvSpPr/>
            <p:nvPr/>
          </p:nvSpPr>
          <p:spPr>
            <a:xfrm>
              <a:off x="3208802" y="1784697"/>
              <a:ext cx="198897" cy="198898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C83BD30-35CE-3F6E-171F-B4B41D8A273F}"/>
                </a:ext>
              </a:extLst>
            </p:cNvPr>
            <p:cNvSpPr/>
            <p:nvPr/>
          </p:nvSpPr>
          <p:spPr>
            <a:xfrm>
              <a:off x="3056766" y="2013429"/>
              <a:ext cx="505724" cy="873730"/>
            </a:xfrm>
            <a:custGeom>
              <a:avLst/>
              <a:gdLst>
                <a:gd name="connsiteX0" fmla="*/ 888676 w 891065"/>
                <a:gd name="connsiteY0" fmla="*/ 588255 h 1539475"/>
                <a:gd name="connsiteX1" fmla="*/ 776032 w 891065"/>
                <a:gd name="connsiteY1" fmla="*/ 172722 h 1539475"/>
                <a:gd name="connsiteX2" fmla="*/ 753503 w 891065"/>
                <a:gd name="connsiteY2" fmla="*/ 132670 h 1539475"/>
                <a:gd name="connsiteX3" fmla="*/ 580781 w 891065"/>
                <a:gd name="connsiteY3" fmla="*/ 22529 h 1539475"/>
                <a:gd name="connsiteX4" fmla="*/ 445608 w 891065"/>
                <a:gd name="connsiteY4" fmla="*/ 0 h 1539475"/>
                <a:gd name="connsiteX5" fmla="*/ 310434 w 891065"/>
                <a:gd name="connsiteY5" fmla="*/ 22529 h 1539475"/>
                <a:gd name="connsiteX6" fmla="*/ 137713 w 891065"/>
                <a:gd name="connsiteY6" fmla="*/ 132670 h 1539475"/>
                <a:gd name="connsiteX7" fmla="*/ 115184 w 891065"/>
                <a:gd name="connsiteY7" fmla="*/ 172722 h 1539475"/>
                <a:gd name="connsiteX8" fmla="*/ 2539 w 891065"/>
                <a:gd name="connsiteY8" fmla="*/ 588255 h 1539475"/>
                <a:gd name="connsiteX9" fmla="*/ 55107 w 891065"/>
                <a:gd name="connsiteY9" fmla="*/ 683377 h 1539475"/>
                <a:gd name="connsiteX10" fmla="*/ 75132 w 891065"/>
                <a:gd name="connsiteY10" fmla="*/ 685880 h 1539475"/>
                <a:gd name="connsiteX11" fmla="*/ 147725 w 891065"/>
                <a:gd name="connsiteY11" fmla="*/ 630810 h 1539475"/>
                <a:gd name="connsiteX12" fmla="*/ 247854 w 891065"/>
                <a:gd name="connsiteY12" fmla="*/ 265341 h 1539475"/>
                <a:gd name="connsiteX13" fmla="*/ 247854 w 891065"/>
                <a:gd name="connsiteY13" fmla="*/ 1539476 h 1539475"/>
                <a:gd name="connsiteX14" fmla="*/ 398047 w 891065"/>
                <a:gd name="connsiteY14" fmla="*/ 1539476 h 1539475"/>
                <a:gd name="connsiteX15" fmla="*/ 398047 w 891065"/>
                <a:gd name="connsiteY15" fmla="*/ 823557 h 1539475"/>
                <a:gd name="connsiteX16" fmla="*/ 498175 w 891065"/>
                <a:gd name="connsiteY16" fmla="*/ 823557 h 1539475"/>
                <a:gd name="connsiteX17" fmla="*/ 498175 w 891065"/>
                <a:gd name="connsiteY17" fmla="*/ 1536972 h 1539475"/>
                <a:gd name="connsiteX18" fmla="*/ 648368 w 891065"/>
                <a:gd name="connsiteY18" fmla="*/ 1536972 h 1539475"/>
                <a:gd name="connsiteX19" fmla="*/ 648368 w 891065"/>
                <a:gd name="connsiteY19" fmla="*/ 265341 h 1539475"/>
                <a:gd name="connsiteX20" fmla="*/ 748496 w 891065"/>
                <a:gd name="connsiteY20" fmla="*/ 630810 h 1539475"/>
                <a:gd name="connsiteX21" fmla="*/ 821090 w 891065"/>
                <a:gd name="connsiteY21" fmla="*/ 685880 h 1539475"/>
                <a:gd name="connsiteX22" fmla="*/ 841115 w 891065"/>
                <a:gd name="connsiteY22" fmla="*/ 683377 h 1539475"/>
                <a:gd name="connsiteX23" fmla="*/ 888676 w 891065"/>
                <a:gd name="connsiteY23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1065" h="1539475">
                  <a:moveTo>
                    <a:pt x="888676" y="588255"/>
                  </a:moveTo>
                  <a:lnTo>
                    <a:pt x="776032" y="172722"/>
                  </a:lnTo>
                  <a:cubicBezTo>
                    <a:pt x="771025" y="157702"/>
                    <a:pt x="763516" y="142683"/>
                    <a:pt x="753503" y="132670"/>
                  </a:cubicBezTo>
                  <a:cubicBezTo>
                    <a:pt x="705942" y="82606"/>
                    <a:pt x="645865" y="45058"/>
                    <a:pt x="580781" y="22529"/>
                  </a:cubicBezTo>
                  <a:cubicBezTo>
                    <a:pt x="538227" y="7510"/>
                    <a:pt x="493169" y="0"/>
                    <a:pt x="445608" y="0"/>
                  </a:cubicBezTo>
                  <a:cubicBezTo>
                    <a:pt x="398047" y="0"/>
                    <a:pt x="352989" y="7510"/>
                    <a:pt x="310434" y="22529"/>
                  </a:cubicBezTo>
                  <a:cubicBezTo>
                    <a:pt x="242848" y="45058"/>
                    <a:pt x="185274" y="82606"/>
                    <a:pt x="137713" y="132670"/>
                  </a:cubicBezTo>
                  <a:cubicBezTo>
                    <a:pt x="127700" y="145186"/>
                    <a:pt x="120190" y="157702"/>
                    <a:pt x="115184" y="172722"/>
                  </a:cubicBezTo>
                  <a:lnTo>
                    <a:pt x="2539" y="588255"/>
                  </a:lnTo>
                  <a:cubicBezTo>
                    <a:pt x="-7474" y="628306"/>
                    <a:pt x="12552" y="673364"/>
                    <a:pt x="55107" y="683377"/>
                  </a:cubicBezTo>
                  <a:cubicBezTo>
                    <a:pt x="62616" y="685880"/>
                    <a:pt x="67623" y="685880"/>
                    <a:pt x="75132" y="685880"/>
                  </a:cubicBezTo>
                  <a:cubicBezTo>
                    <a:pt x="107674" y="685880"/>
                    <a:pt x="137713" y="663351"/>
                    <a:pt x="147725" y="630810"/>
                  </a:cubicBezTo>
                  <a:lnTo>
                    <a:pt x="247854" y="265341"/>
                  </a:lnTo>
                  <a:lnTo>
                    <a:pt x="247854" y="1539476"/>
                  </a:lnTo>
                  <a:lnTo>
                    <a:pt x="398047" y="1539476"/>
                  </a:lnTo>
                  <a:lnTo>
                    <a:pt x="398047" y="823557"/>
                  </a:lnTo>
                  <a:lnTo>
                    <a:pt x="498175" y="823557"/>
                  </a:lnTo>
                  <a:lnTo>
                    <a:pt x="498175" y="1536972"/>
                  </a:lnTo>
                  <a:lnTo>
                    <a:pt x="648368" y="1536972"/>
                  </a:lnTo>
                  <a:lnTo>
                    <a:pt x="648368" y="265341"/>
                  </a:lnTo>
                  <a:lnTo>
                    <a:pt x="748496" y="630810"/>
                  </a:lnTo>
                  <a:cubicBezTo>
                    <a:pt x="758509" y="663351"/>
                    <a:pt x="788548" y="685880"/>
                    <a:pt x="821090" y="685880"/>
                  </a:cubicBezTo>
                  <a:cubicBezTo>
                    <a:pt x="828599" y="685880"/>
                    <a:pt x="833606" y="685880"/>
                    <a:pt x="841115" y="683377"/>
                  </a:cubicBezTo>
                  <a:cubicBezTo>
                    <a:pt x="876160" y="673364"/>
                    <a:pt x="898689" y="628306"/>
                    <a:pt x="888676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F5FC96-378D-AA98-D9B6-516891CF287A}"/>
                </a:ext>
              </a:extLst>
            </p:cNvPr>
            <p:cNvSpPr/>
            <p:nvPr/>
          </p:nvSpPr>
          <p:spPr>
            <a:xfrm>
              <a:off x="2698750" y="2012009"/>
              <a:ext cx="410602" cy="875150"/>
            </a:xfrm>
            <a:custGeom>
              <a:avLst/>
              <a:gdLst>
                <a:gd name="connsiteX0" fmla="*/ 580781 w 723464"/>
                <a:gd name="connsiteY0" fmla="*/ 578242 h 1541978"/>
                <a:gd name="connsiteX1" fmla="*/ 693426 w 723464"/>
                <a:gd name="connsiteY1" fmla="*/ 162709 h 1541978"/>
                <a:gd name="connsiteX2" fmla="*/ 723464 w 723464"/>
                <a:gd name="connsiteY2" fmla="*/ 102632 h 1541978"/>
                <a:gd name="connsiteX3" fmla="*/ 580781 w 723464"/>
                <a:gd name="connsiteY3" fmla="*/ 22529 h 1541978"/>
                <a:gd name="connsiteX4" fmla="*/ 445608 w 723464"/>
                <a:gd name="connsiteY4" fmla="*/ 0 h 1541978"/>
                <a:gd name="connsiteX5" fmla="*/ 310434 w 723464"/>
                <a:gd name="connsiteY5" fmla="*/ 22529 h 1541978"/>
                <a:gd name="connsiteX6" fmla="*/ 137713 w 723464"/>
                <a:gd name="connsiteY6" fmla="*/ 132670 h 1541978"/>
                <a:gd name="connsiteX7" fmla="*/ 115184 w 723464"/>
                <a:gd name="connsiteY7" fmla="*/ 172722 h 1541978"/>
                <a:gd name="connsiteX8" fmla="*/ 2539 w 723464"/>
                <a:gd name="connsiteY8" fmla="*/ 590758 h 1541978"/>
                <a:gd name="connsiteX9" fmla="*/ 55107 w 723464"/>
                <a:gd name="connsiteY9" fmla="*/ 685880 h 1541978"/>
                <a:gd name="connsiteX10" fmla="*/ 75132 w 723464"/>
                <a:gd name="connsiteY10" fmla="*/ 688383 h 1541978"/>
                <a:gd name="connsiteX11" fmla="*/ 147725 w 723464"/>
                <a:gd name="connsiteY11" fmla="*/ 633313 h 1541978"/>
                <a:gd name="connsiteX12" fmla="*/ 247854 w 723464"/>
                <a:gd name="connsiteY12" fmla="*/ 267844 h 1541978"/>
                <a:gd name="connsiteX13" fmla="*/ 247854 w 723464"/>
                <a:gd name="connsiteY13" fmla="*/ 1541979 h 1541978"/>
                <a:gd name="connsiteX14" fmla="*/ 398047 w 723464"/>
                <a:gd name="connsiteY14" fmla="*/ 1541979 h 1541978"/>
                <a:gd name="connsiteX15" fmla="*/ 398047 w 723464"/>
                <a:gd name="connsiteY15" fmla="*/ 826060 h 1541978"/>
                <a:gd name="connsiteX16" fmla="*/ 498175 w 723464"/>
                <a:gd name="connsiteY16" fmla="*/ 826060 h 1541978"/>
                <a:gd name="connsiteX17" fmla="*/ 498175 w 723464"/>
                <a:gd name="connsiteY17" fmla="*/ 1539476 h 1541978"/>
                <a:gd name="connsiteX18" fmla="*/ 648368 w 723464"/>
                <a:gd name="connsiteY18" fmla="*/ 1539476 h 1541978"/>
                <a:gd name="connsiteX19" fmla="*/ 648368 w 723464"/>
                <a:gd name="connsiteY19" fmla="*/ 728435 h 1541978"/>
                <a:gd name="connsiteX20" fmla="*/ 580781 w 723464"/>
                <a:gd name="connsiteY20" fmla="*/ 578242 h 154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3464" h="1541978">
                  <a:moveTo>
                    <a:pt x="580781" y="578242"/>
                  </a:moveTo>
                  <a:lnTo>
                    <a:pt x="693426" y="162709"/>
                  </a:lnTo>
                  <a:cubicBezTo>
                    <a:pt x="698432" y="140180"/>
                    <a:pt x="710948" y="120154"/>
                    <a:pt x="723464" y="102632"/>
                  </a:cubicBezTo>
                  <a:cubicBezTo>
                    <a:pt x="683413" y="67587"/>
                    <a:pt x="633349" y="40051"/>
                    <a:pt x="580781" y="22529"/>
                  </a:cubicBezTo>
                  <a:cubicBezTo>
                    <a:pt x="538227" y="7510"/>
                    <a:pt x="493169" y="0"/>
                    <a:pt x="445608" y="0"/>
                  </a:cubicBezTo>
                  <a:cubicBezTo>
                    <a:pt x="398047" y="0"/>
                    <a:pt x="352989" y="7510"/>
                    <a:pt x="310434" y="22529"/>
                  </a:cubicBezTo>
                  <a:cubicBezTo>
                    <a:pt x="242848" y="45058"/>
                    <a:pt x="185274" y="82606"/>
                    <a:pt x="137713" y="132670"/>
                  </a:cubicBezTo>
                  <a:cubicBezTo>
                    <a:pt x="127700" y="145186"/>
                    <a:pt x="120190" y="157702"/>
                    <a:pt x="115184" y="172722"/>
                  </a:cubicBezTo>
                  <a:lnTo>
                    <a:pt x="2539" y="590758"/>
                  </a:lnTo>
                  <a:cubicBezTo>
                    <a:pt x="-7474" y="630810"/>
                    <a:pt x="12552" y="675867"/>
                    <a:pt x="55107" y="685880"/>
                  </a:cubicBezTo>
                  <a:cubicBezTo>
                    <a:pt x="62616" y="688383"/>
                    <a:pt x="67623" y="688383"/>
                    <a:pt x="75132" y="688383"/>
                  </a:cubicBezTo>
                  <a:cubicBezTo>
                    <a:pt x="107674" y="688383"/>
                    <a:pt x="137713" y="665855"/>
                    <a:pt x="147725" y="633313"/>
                  </a:cubicBezTo>
                  <a:lnTo>
                    <a:pt x="247854" y="267844"/>
                  </a:lnTo>
                  <a:lnTo>
                    <a:pt x="247854" y="1541979"/>
                  </a:lnTo>
                  <a:lnTo>
                    <a:pt x="398047" y="1541979"/>
                  </a:lnTo>
                  <a:lnTo>
                    <a:pt x="398047" y="826060"/>
                  </a:lnTo>
                  <a:lnTo>
                    <a:pt x="498175" y="826060"/>
                  </a:lnTo>
                  <a:lnTo>
                    <a:pt x="498175" y="1539476"/>
                  </a:lnTo>
                  <a:lnTo>
                    <a:pt x="648368" y="1539476"/>
                  </a:lnTo>
                  <a:lnTo>
                    <a:pt x="648368" y="728435"/>
                  </a:lnTo>
                  <a:cubicBezTo>
                    <a:pt x="595800" y="703403"/>
                    <a:pt x="565762" y="640822"/>
                    <a:pt x="580781" y="57824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4FE88A-2F8E-A1CC-869E-9FE907BBC8CC}"/>
                </a:ext>
              </a:extLst>
            </p:cNvPr>
            <p:cNvSpPr/>
            <p:nvPr/>
          </p:nvSpPr>
          <p:spPr>
            <a:xfrm>
              <a:off x="3505727" y="2013429"/>
              <a:ext cx="411920" cy="873730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AB13D4-496D-EF23-0D89-D46F3F3F9AEB}"/>
                </a:ext>
              </a:extLst>
            </p:cNvPr>
            <p:cNvSpPr/>
            <p:nvPr/>
          </p:nvSpPr>
          <p:spPr>
            <a:xfrm>
              <a:off x="6400980" y="1872966"/>
              <a:ext cx="198896" cy="198896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F7A8C1E-F78F-A50B-44FE-31FC0CFFD5F1}"/>
                </a:ext>
              </a:extLst>
            </p:cNvPr>
            <p:cNvSpPr/>
            <p:nvPr/>
          </p:nvSpPr>
          <p:spPr>
            <a:xfrm>
              <a:off x="6742889" y="1872966"/>
              <a:ext cx="198896" cy="198896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EF5CDF3-A9B9-21F4-C2CE-7F90B48E6E50}"/>
                </a:ext>
              </a:extLst>
            </p:cNvPr>
            <p:cNvSpPr/>
            <p:nvPr/>
          </p:nvSpPr>
          <p:spPr>
            <a:xfrm>
              <a:off x="6684642" y="2101698"/>
              <a:ext cx="411921" cy="873732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971BB6-237F-58A5-1CC5-166DEE10A804}"/>
                </a:ext>
              </a:extLst>
            </p:cNvPr>
            <p:cNvSpPr/>
            <p:nvPr/>
          </p:nvSpPr>
          <p:spPr>
            <a:xfrm>
              <a:off x="7084807" y="1872966"/>
              <a:ext cx="198896" cy="198896"/>
            </a:xfrm>
            <a:custGeom>
              <a:avLst/>
              <a:gdLst>
                <a:gd name="connsiteX0" fmla="*/ 350450 w 350449"/>
                <a:gd name="connsiteY0" fmla="*/ 175225 h 350449"/>
                <a:gd name="connsiteX1" fmla="*/ 175225 w 350449"/>
                <a:gd name="connsiteY1" fmla="*/ 350450 h 350449"/>
                <a:gd name="connsiteX2" fmla="*/ 0 w 350449"/>
                <a:gd name="connsiteY2" fmla="*/ 175225 h 350449"/>
                <a:gd name="connsiteX3" fmla="*/ 175225 w 350449"/>
                <a:gd name="connsiteY3" fmla="*/ 0 h 350449"/>
                <a:gd name="connsiteX4" fmla="*/ 350450 w 350449"/>
                <a:gd name="connsiteY4" fmla="*/ 175225 h 350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49" h="350449">
                  <a:moveTo>
                    <a:pt x="350450" y="175225"/>
                  </a:moveTo>
                  <a:cubicBezTo>
                    <a:pt x="350450" y="271999"/>
                    <a:pt x="271999" y="350450"/>
                    <a:pt x="175225" y="350450"/>
                  </a:cubicBezTo>
                  <a:cubicBezTo>
                    <a:pt x="78451" y="350450"/>
                    <a:pt x="0" y="271999"/>
                    <a:pt x="0" y="175225"/>
                  </a:cubicBezTo>
                  <a:cubicBezTo>
                    <a:pt x="0" y="78451"/>
                    <a:pt x="78451" y="0"/>
                    <a:pt x="175225" y="0"/>
                  </a:cubicBezTo>
                  <a:cubicBezTo>
                    <a:pt x="271999" y="0"/>
                    <a:pt x="350450" y="78451"/>
                    <a:pt x="350450" y="17522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EDF517-F872-E16F-8ED1-6C48C5C69ED8}"/>
                </a:ext>
              </a:extLst>
            </p:cNvPr>
            <p:cNvSpPr/>
            <p:nvPr/>
          </p:nvSpPr>
          <p:spPr>
            <a:xfrm>
              <a:off x="7026556" y="2101698"/>
              <a:ext cx="411921" cy="873732"/>
            </a:xfrm>
            <a:custGeom>
              <a:avLst/>
              <a:gdLst>
                <a:gd name="connsiteX0" fmla="*/ 723428 w 725786"/>
                <a:gd name="connsiteY0" fmla="*/ 588255 h 1539475"/>
                <a:gd name="connsiteX1" fmla="*/ 608281 w 725786"/>
                <a:gd name="connsiteY1" fmla="*/ 172722 h 1539475"/>
                <a:gd name="connsiteX2" fmla="*/ 585752 w 725786"/>
                <a:gd name="connsiteY2" fmla="*/ 132670 h 1539475"/>
                <a:gd name="connsiteX3" fmla="*/ 413030 w 725786"/>
                <a:gd name="connsiteY3" fmla="*/ 22529 h 1539475"/>
                <a:gd name="connsiteX4" fmla="*/ 277857 w 725786"/>
                <a:gd name="connsiteY4" fmla="*/ 0 h 1539475"/>
                <a:gd name="connsiteX5" fmla="*/ 142683 w 725786"/>
                <a:gd name="connsiteY5" fmla="*/ 22529 h 1539475"/>
                <a:gd name="connsiteX6" fmla="*/ 0 w 725786"/>
                <a:gd name="connsiteY6" fmla="*/ 102632 h 1539475"/>
                <a:gd name="connsiteX7" fmla="*/ 30038 w 725786"/>
                <a:gd name="connsiteY7" fmla="*/ 160206 h 1539475"/>
                <a:gd name="connsiteX8" fmla="*/ 142683 w 725786"/>
                <a:gd name="connsiteY8" fmla="*/ 575739 h 1539475"/>
                <a:gd name="connsiteX9" fmla="*/ 75096 w 725786"/>
                <a:gd name="connsiteY9" fmla="*/ 725932 h 1539475"/>
                <a:gd name="connsiteX10" fmla="*/ 75096 w 725786"/>
                <a:gd name="connsiteY10" fmla="*/ 1539476 h 1539475"/>
                <a:gd name="connsiteX11" fmla="*/ 225289 w 725786"/>
                <a:gd name="connsiteY11" fmla="*/ 1539476 h 1539475"/>
                <a:gd name="connsiteX12" fmla="*/ 225289 w 725786"/>
                <a:gd name="connsiteY12" fmla="*/ 823557 h 1539475"/>
                <a:gd name="connsiteX13" fmla="*/ 325418 w 725786"/>
                <a:gd name="connsiteY13" fmla="*/ 823557 h 1539475"/>
                <a:gd name="connsiteX14" fmla="*/ 325418 w 725786"/>
                <a:gd name="connsiteY14" fmla="*/ 1536972 h 1539475"/>
                <a:gd name="connsiteX15" fmla="*/ 475610 w 725786"/>
                <a:gd name="connsiteY15" fmla="*/ 1536972 h 1539475"/>
                <a:gd name="connsiteX16" fmla="*/ 475610 w 725786"/>
                <a:gd name="connsiteY16" fmla="*/ 265341 h 1539475"/>
                <a:gd name="connsiteX17" fmla="*/ 575739 w 725786"/>
                <a:gd name="connsiteY17" fmla="*/ 630810 h 1539475"/>
                <a:gd name="connsiteX18" fmla="*/ 648332 w 725786"/>
                <a:gd name="connsiteY18" fmla="*/ 685880 h 1539475"/>
                <a:gd name="connsiteX19" fmla="*/ 668358 w 725786"/>
                <a:gd name="connsiteY19" fmla="*/ 683377 h 1539475"/>
                <a:gd name="connsiteX20" fmla="*/ 723428 w 725786"/>
                <a:gd name="connsiteY20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5786" h="1539475">
                  <a:moveTo>
                    <a:pt x="723428" y="588255"/>
                  </a:moveTo>
                  <a:lnTo>
                    <a:pt x="608281" y="172722"/>
                  </a:lnTo>
                  <a:cubicBezTo>
                    <a:pt x="603274" y="157702"/>
                    <a:pt x="595764" y="142683"/>
                    <a:pt x="585752" y="132670"/>
                  </a:cubicBezTo>
                  <a:cubicBezTo>
                    <a:pt x="538191" y="82606"/>
                    <a:pt x="478114" y="45058"/>
                    <a:pt x="413030" y="22529"/>
                  </a:cubicBezTo>
                  <a:cubicBezTo>
                    <a:pt x="370475" y="7510"/>
                    <a:pt x="325418" y="0"/>
                    <a:pt x="277857" y="0"/>
                  </a:cubicBezTo>
                  <a:cubicBezTo>
                    <a:pt x="230295" y="0"/>
                    <a:pt x="185238" y="7510"/>
                    <a:pt x="142683" y="22529"/>
                  </a:cubicBezTo>
                  <a:cubicBezTo>
                    <a:pt x="90116" y="40051"/>
                    <a:pt x="42555" y="67587"/>
                    <a:pt x="0" y="102632"/>
                  </a:cubicBezTo>
                  <a:cubicBezTo>
                    <a:pt x="15019" y="120154"/>
                    <a:pt x="25032" y="140180"/>
                    <a:pt x="30038" y="160206"/>
                  </a:cubicBezTo>
                  <a:lnTo>
                    <a:pt x="142683" y="575739"/>
                  </a:lnTo>
                  <a:cubicBezTo>
                    <a:pt x="160206" y="638319"/>
                    <a:pt x="127664" y="700900"/>
                    <a:pt x="75096" y="725932"/>
                  </a:cubicBezTo>
                  <a:lnTo>
                    <a:pt x="75096" y="1539476"/>
                  </a:lnTo>
                  <a:lnTo>
                    <a:pt x="225289" y="1539476"/>
                  </a:lnTo>
                  <a:lnTo>
                    <a:pt x="225289" y="823557"/>
                  </a:lnTo>
                  <a:lnTo>
                    <a:pt x="325418" y="823557"/>
                  </a:lnTo>
                  <a:lnTo>
                    <a:pt x="325418" y="1536972"/>
                  </a:lnTo>
                  <a:lnTo>
                    <a:pt x="475610" y="1536972"/>
                  </a:lnTo>
                  <a:lnTo>
                    <a:pt x="475610" y="265341"/>
                  </a:lnTo>
                  <a:lnTo>
                    <a:pt x="575739" y="630810"/>
                  </a:lnTo>
                  <a:cubicBezTo>
                    <a:pt x="585752" y="663351"/>
                    <a:pt x="615790" y="685880"/>
                    <a:pt x="648332" y="685880"/>
                  </a:cubicBezTo>
                  <a:cubicBezTo>
                    <a:pt x="655842" y="685880"/>
                    <a:pt x="660848" y="685880"/>
                    <a:pt x="668358" y="683377"/>
                  </a:cubicBezTo>
                  <a:cubicBezTo>
                    <a:pt x="710912" y="673364"/>
                    <a:pt x="733441" y="628306"/>
                    <a:pt x="723428" y="58825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B79663D-B34C-5FAA-2087-2256376F6E0D}"/>
                </a:ext>
              </a:extLst>
            </p:cNvPr>
            <p:cNvSpPr/>
            <p:nvPr/>
          </p:nvSpPr>
          <p:spPr>
            <a:xfrm>
              <a:off x="6245092" y="2111363"/>
              <a:ext cx="505723" cy="873732"/>
            </a:xfrm>
            <a:custGeom>
              <a:avLst/>
              <a:gdLst>
                <a:gd name="connsiteX0" fmla="*/ 888676 w 891065"/>
                <a:gd name="connsiteY0" fmla="*/ 588255 h 1539475"/>
                <a:gd name="connsiteX1" fmla="*/ 776032 w 891065"/>
                <a:gd name="connsiteY1" fmla="*/ 172722 h 1539475"/>
                <a:gd name="connsiteX2" fmla="*/ 753503 w 891065"/>
                <a:gd name="connsiteY2" fmla="*/ 132670 h 1539475"/>
                <a:gd name="connsiteX3" fmla="*/ 580781 w 891065"/>
                <a:gd name="connsiteY3" fmla="*/ 22529 h 1539475"/>
                <a:gd name="connsiteX4" fmla="*/ 445608 w 891065"/>
                <a:gd name="connsiteY4" fmla="*/ 0 h 1539475"/>
                <a:gd name="connsiteX5" fmla="*/ 310434 w 891065"/>
                <a:gd name="connsiteY5" fmla="*/ 22529 h 1539475"/>
                <a:gd name="connsiteX6" fmla="*/ 137713 w 891065"/>
                <a:gd name="connsiteY6" fmla="*/ 132670 h 1539475"/>
                <a:gd name="connsiteX7" fmla="*/ 115184 w 891065"/>
                <a:gd name="connsiteY7" fmla="*/ 172722 h 1539475"/>
                <a:gd name="connsiteX8" fmla="*/ 2539 w 891065"/>
                <a:gd name="connsiteY8" fmla="*/ 588255 h 1539475"/>
                <a:gd name="connsiteX9" fmla="*/ 55107 w 891065"/>
                <a:gd name="connsiteY9" fmla="*/ 683377 h 1539475"/>
                <a:gd name="connsiteX10" fmla="*/ 75132 w 891065"/>
                <a:gd name="connsiteY10" fmla="*/ 685880 h 1539475"/>
                <a:gd name="connsiteX11" fmla="*/ 147725 w 891065"/>
                <a:gd name="connsiteY11" fmla="*/ 630810 h 1539475"/>
                <a:gd name="connsiteX12" fmla="*/ 247854 w 891065"/>
                <a:gd name="connsiteY12" fmla="*/ 265341 h 1539475"/>
                <a:gd name="connsiteX13" fmla="*/ 247854 w 891065"/>
                <a:gd name="connsiteY13" fmla="*/ 1539476 h 1539475"/>
                <a:gd name="connsiteX14" fmla="*/ 398047 w 891065"/>
                <a:gd name="connsiteY14" fmla="*/ 1539476 h 1539475"/>
                <a:gd name="connsiteX15" fmla="*/ 398047 w 891065"/>
                <a:gd name="connsiteY15" fmla="*/ 823557 h 1539475"/>
                <a:gd name="connsiteX16" fmla="*/ 498175 w 891065"/>
                <a:gd name="connsiteY16" fmla="*/ 823557 h 1539475"/>
                <a:gd name="connsiteX17" fmla="*/ 498175 w 891065"/>
                <a:gd name="connsiteY17" fmla="*/ 1536972 h 1539475"/>
                <a:gd name="connsiteX18" fmla="*/ 648368 w 891065"/>
                <a:gd name="connsiteY18" fmla="*/ 1536972 h 1539475"/>
                <a:gd name="connsiteX19" fmla="*/ 648368 w 891065"/>
                <a:gd name="connsiteY19" fmla="*/ 265341 h 1539475"/>
                <a:gd name="connsiteX20" fmla="*/ 748496 w 891065"/>
                <a:gd name="connsiteY20" fmla="*/ 630810 h 1539475"/>
                <a:gd name="connsiteX21" fmla="*/ 821090 w 891065"/>
                <a:gd name="connsiteY21" fmla="*/ 685880 h 1539475"/>
                <a:gd name="connsiteX22" fmla="*/ 841115 w 891065"/>
                <a:gd name="connsiteY22" fmla="*/ 683377 h 1539475"/>
                <a:gd name="connsiteX23" fmla="*/ 888676 w 891065"/>
                <a:gd name="connsiteY23" fmla="*/ 588255 h 153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1065" h="1539475">
                  <a:moveTo>
                    <a:pt x="888676" y="588255"/>
                  </a:moveTo>
                  <a:lnTo>
                    <a:pt x="776032" y="172722"/>
                  </a:lnTo>
                  <a:cubicBezTo>
                    <a:pt x="771025" y="157702"/>
                    <a:pt x="763516" y="142683"/>
                    <a:pt x="753503" y="132670"/>
                  </a:cubicBezTo>
                  <a:cubicBezTo>
                    <a:pt x="705942" y="82606"/>
                    <a:pt x="645865" y="45058"/>
                    <a:pt x="580781" y="22529"/>
                  </a:cubicBezTo>
                  <a:cubicBezTo>
                    <a:pt x="538227" y="7510"/>
                    <a:pt x="493169" y="0"/>
                    <a:pt x="445608" y="0"/>
                  </a:cubicBezTo>
                  <a:cubicBezTo>
                    <a:pt x="398047" y="0"/>
                    <a:pt x="352989" y="7510"/>
                    <a:pt x="310434" y="22529"/>
                  </a:cubicBezTo>
                  <a:cubicBezTo>
                    <a:pt x="242848" y="45058"/>
                    <a:pt x="185274" y="82606"/>
                    <a:pt x="137713" y="132670"/>
                  </a:cubicBezTo>
                  <a:cubicBezTo>
                    <a:pt x="127700" y="145186"/>
                    <a:pt x="120190" y="157702"/>
                    <a:pt x="115184" y="172722"/>
                  </a:cubicBezTo>
                  <a:lnTo>
                    <a:pt x="2539" y="588255"/>
                  </a:lnTo>
                  <a:cubicBezTo>
                    <a:pt x="-7474" y="628306"/>
                    <a:pt x="12552" y="673364"/>
                    <a:pt x="55107" y="683377"/>
                  </a:cubicBezTo>
                  <a:cubicBezTo>
                    <a:pt x="62616" y="685880"/>
                    <a:pt x="67623" y="685880"/>
                    <a:pt x="75132" y="685880"/>
                  </a:cubicBezTo>
                  <a:cubicBezTo>
                    <a:pt x="107674" y="685880"/>
                    <a:pt x="137713" y="663351"/>
                    <a:pt x="147725" y="630810"/>
                  </a:cubicBezTo>
                  <a:lnTo>
                    <a:pt x="247854" y="265341"/>
                  </a:lnTo>
                  <a:lnTo>
                    <a:pt x="247854" y="1539476"/>
                  </a:lnTo>
                  <a:lnTo>
                    <a:pt x="398047" y="1539476"/>
                  </a:lnTo>
                  <a:lnTo>
                    <a:pt x="398047" y="823557"/>
                  </a:lnTo>
                  <a:lnTo>
                    <a:pt x="498175" y="823557"/>
                  </a:lnTo>
                  <a:lnTo>
                    <a:pt x="498175" y="1536972"/>
                  </a:lnTo>
                  <a:lnTo>
                    <a:pt x="648368" y="1536972"/>
                  </a:lnTo>
                  <a:lnTo>
                    <a:pt x="648368" y="265341"/>
                  </a:lnTo>
                  <a:lnTo>
                    <a:pt x="748496" y="630810"/>
                  </a:lnTo>
                  <a:cubicBezTo>
                    <a:pt x="758509" y="663351"/>
                    <a:pt x="788548" y="685880"/>
                    <a:pt x="821090" y="685880"/>
                  </a:cubicBezTo>
                  <a:cubicBezTo>
                    <a:pt x="828599" y="685880"/>
                    <a:pt x="833606" y="685880"/>
                    <a:pt x="841115" y="683377"/>
                  </a:cubicBezTo>
                  <a:cubicBezTo>
                    <a:pt x="876160" y="673364"/>
                    <a:pt x="898689" y="628306"/>
                    <a:pt x="888676" y="58825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BAAC268-44AE-5961-886B-E39C6BECF277}"/>
                </a:ext>
              </a:extLst>
            </p:cNvPr>
            <p:cNvSpPr txBox="1"/>
            <p:nvPr/>
          </p:nvSpPr>
          <p:spPr>
            <a:xfrm>
              <a:off x="1958982" y="2740793"/>
              <a:ext cx="3338440" cy="9770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700" b="1" dirty="0">
                  <a:solidFill>
                    <a:schemeClr val="accent1">
                      <a:lumMod val="75000"/>
                    </a:schemeClr>
                  </a:solidFill>
                  <a:latin typeface="CaeciliaLTPro-75Bold"/>
                  <a:cs typeface="CaeciliaLTPro-75Bold"/>
                </a:rPr>
                <a:t>OAC users</a:t>
              </a:r>
              <a:endParaRPr lang="en-GB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86C240-BD55-A9D6-6625-12063D09E104}"/>
                </a:ext>
              </a:extLst>
            </p:cNvPr>
            <p:cNvSpPr txBox="1"/>
            <p:nvPr/>
          </p:nvSpPr>
          <p:spPr>
            <a:xfrm>
              <a:off x="5734915" y="2887157"/>
              <a:ext cx="2728673" cy="901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eciliaLTPro-75Bold"/>
                  <a:cs typeface="CaeciliaLTPro-75Bold"/>
                </a:rPr>
                <a:t>non-users</a:t>
              </a:r>
              <a:endPara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C044AFF-FB89-B691-9C45-D1EE150F2975}"/>
              </a:ext>
            </a:extLst>
          </p:cNvPr>
          <p:cNvSpPr txBox="1"/>
          <p:nvPr/>
        </p:nvSpPr>
        <p:spPr>
          <a:xfrm>
            <a:off x="129490" y="3248025"/>
            <a:ext cx="1883459" cy="38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762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CN" sz="600" dirty="0">
                <a:latin typeface="CaeciliaLTPro-75Bold"/>
                <a:cs typeface="CaeciliaLTPro-75Bold"/>
              </a:rPr>
              <a:t>Cumulative incidence rate of stroke, bleeding, or all-cause mortality</a:t>
            </a:r>
          </a:p>
          <a:p>
            <a:pPr marL="88900" indent="-76200" algn="l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CN" sz="600" dirty="0">
                <a:latin typeface="CaeciliaLTPro-75Bold"/>
                <a:cs typeface="CaeciliaLTPro-75Bold"/>
              </a:rPr>
              <a:t>Subgroup by age and sex</a:t>
            </a:r>
            <a:endParaRPr lang="en-US" sz="600" dirty="0">
              <a:latin typeface="CaeciliaLTPro-75Bold"/>
              <a:cs typeface="CaeciliaLTPro-75Bold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E977463D-A0DA-F80E-5A96-E5E3693DA6A4}"/>
              </a:ext>
            </a:extLst>
          </p:cNvPr>
          <p:cNvSpPr/>
          <p:nvPr/>
        </p:nvSpPr>
        <p:spPr>
          <a:xfrm>
            <a:off x="746543" y="3164820"/>
            <a:ext cx="287659" cy="15061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D218441-2D99-56C5-2032-C5C9CFD46F97}"/>
              </a:ext>
            </a:extLst>
          </p:cNvPr>
          <p:cNvGrpSpPr/>
          <p:nvPr/>
        </p:nvGrpSpPr>
        <p:grpSpPr>
          <a:xfrm>
            <a:off x="2583752" y="1949657"/>
            <a:ext cx="3024826" cy="1648642"/>
            <a:chOff x="1869172" y="1366316"/>
            <a:chExt cx="2465598" cy="1343842"/>
          </a:xfrm>
        </p:grpSpPr>
        <p:pic>
          <p:nvPicPr>
            <p:cNvPr id="51" name="Picture 50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BA684533-D5B2-23EC-F7D1-884A395F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4" t="27127" r="95674" b="43508"/>
            <a:stretch>
              <a:fillRect/>
            </a:stretch>
          </p:blipFill>
          <p:spPr bwMode="auto">
            <a:xfrm>
              <a:off x="1869172" y="1366316"/>
              <a:ext cx="84665" cy="1168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Picture 52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F5953BFE-1AC9-642C-D89F-F08249A88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16" r="5586" b="85263"/>
            <a:stretch>
              <a:fillRect/>
            </a:stretch>
          </p:blipFill>
          <p:spPr bwMode="auto">
            <a:xfrm>
              <a:off x="1953855" y="1366316"/>
              <a:ext cx="2380915" cy="586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Picture 53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7B377E57-7B6F-4B2C-1FC6-833253345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" t="39412" r="5485" b="45850"/>
            <a:stretch>
              <a:fillRect/>
            </a:stretch>
          </p:blipFill>
          <p:spPr bwMode="auto">
            <a:xfrm>
              <a:off x="1946165" y="1948240"/>
              <a:ext cx="2388605" cy="5863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Picture 54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0CBCB51B-47AD-8AC0-6952-A52564386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6" t="78437" r="3395" b="16606"/>
            <a:stretch>
              <a:fillRect/>
            </a:stretch>
          </p:blipFill>
          <p:spPr bwMode="auto">
            <a:xfrm>
              <a:off x="1869172" y="2512928"/>
              <a:ext cx="2465598" cy="19723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DA1E8AC8-0A7C-9775-45C9-EF512606B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402258"/>
              </p:ext>
            </p:extLst>
          </p:nvPr>
        </p:nvGraphicFramePr>
        <p:xfrm>
          <a:off x="2160443" y="1134186"/>
          <a:ext cx="3556434" cy="55434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23840">
                  <a:extLst>
                    <a:ext uri="{9D8B030D-6E8A-4147-A177-3AD203B41FA5}">
                      <a16:colId xmlns:a16="http://schemas.microsoft.com/office/drawing/2014/main" val="2592046181"/>
                    </a:ext>
                  </a:extLst>
                </a:gridCol>
                <a:gridCol w="559097">
                  <a:extLst>
                    <a:ext uri="{9D8B030D-6E8A-4147-A177-3AD203B41FA5}">
                      <a16:colId xmlns:a16="http://schemas.microsoft.com/office/drawing/2014/main" val="3101495723"/>
                    </a:ext>
                  </a:extLst>
                </a:gridCol>
                <a:gridCol w="559097">
                  <a:extLst>
                    <a:ext uri="{9D8B030D-6E8A-4147-A177-3AD203B41FA5}">
                      <a16:colId xmlns:a16="http://schemas.microsoft.com/office/drawing/2014/main" val="43072731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93722458"/>
                    </a:ext>
                  </a:extLst>
                </a:gridCol>
              </a:tblGrid>
              <a:tr h="84852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HK" sz="600" b="0" dirty="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1" dirty="0">
                          <a:solidFill>
                            <a:schemeClr val="tx1"/>
                          </a:solidFill>
                        </a:rPr>
                        <a:t>Risk % (95% CI)</a:t>
                      </a:r>
                      <a:endParaRPr lang="en-GB" sz="600" b="1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1" dirty="0">
                          <a:solidFill>
                            <a:schemeClr val="tx1"/>
                          </a:solidFill>
                        </a:rPr>
                        <a:t>3-year Risk difference (%)</a:t>
                      </a:r>
                      <a:endParaRPr lang="en-GB" sz="600" b="1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511863"/>
                  </a:ext>
                </a:extLst>
              </a:tr>
              <a:tr h="97147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HK" sz="600" b="0" dirty="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1" dirty="0">
                          <a:solidFill>
                            <a:schemeClr val="tx1"/>
                          </a:solidFill>
                        </a:rPr>
                        <a:t>non-initiators</a:t>
                      </a:r>
                      <a:endParaRPr lang="en-GB" sz="600" b="1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1" dirty="0">
                          <a:solidFill>
                            <a:schemeClr val="tx1"/>
                          </a:solidFill>
                        </a:rPr>
                        <a:t>OAC initiators</a:t>
                      </a:r>
                      <a:endParaRPr lang="en-GB" sz="600" b="1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560681"/>
                  </a:ext>
                </a:extLst>
              </a:tr>
              <a:tr h="83924">
                <a:tc>
                  <a:txBody>
                    <a:bodyPr/>
                    <a:lstStyle/>
                    <a:p>
                      <a:pPr marL="127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Composite stroke outcome (death and stroke)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0.72 (0.66, 0.80)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0.69 (0.55, 0.83)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>
                          <a:solidFill>
                            <a:schemeClr val="tx1"/>
                          </a:solidFill>
                        </a:rPr>
                        <a:t>-0.03 (-0.18, 0.11)</a:t>
                      </a:r>
                      <a:endParaRPr lang="en-GB" sz="600" b="0" i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5605296"/>
                  </a:ext>
                </a:extLst>
              </a:tr>
              <a:tr h="84863">
                <a:tc>
                  <a:txBody>
                    <a:bodyPr/>
                    <a:lstStyle/>
                    <a:p>
                      <a:pPr marL="127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Ischemic stroke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0.14 (0.12, 0.16)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0.24 (0.11, 0.40)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0.10 (-0.03, 0.26)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extLst>
                  <a:ext uri="{0D108BD9-81ED-4DB2-BD59-A6C34878D82A}">
                    <a16:rowId xmlns:a16="http://schemas.microsoft.com/office/drawing/2014/main" val="2427033821"/>
                  </a:ext>
                </a:extLst>
              </a:tr>
              <a:tr h="84863">
                <a:tc>
                  <a:txBody>
                    <a:bodyPr/>
                    <a:lstStyle/>
                    <a:p>
                      <a:pPr marL="127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 err="1">
                          <a:solidFill>
                            <a:schemeClr val="tx1"/>
                          </a:solidFill>
                        </a:rPr>
                        <a:t>Haemorraghic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 stroke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0.08 (0.06, 0.10)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0.11 (0.04, 0.18)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>
                          <a:solidFill>
                            <a:schemeClr val="tx1"/>
                          </a:solidFill>
                        </a:rPr>
                        <a:t>0.02 (-0.04, 0.10)</a:t>
                      </a:r>
                      <a:endParaRPr lang="en-GB" sz="600" b="0" i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/>
                </a:tc>
                <a:extLst>
                  <a:ext uri="{0D108BD9-81ED-4DB2-BD59-A6C34878D82A}">
                    <a16:rowId xmlns:a16="http://schemas.microsoft.com/office/drawing/2014/main" val="3678706967"/>
                  </a:ext>
                </a:extLst>
              </a:tr>
              <a:tr h="84863">
                <a:tc>
                  <a:txBody>
                    <a:bodyPr/>
                    <a:lstStyle/>
                    <a:p>
                      <a:pPr marL="127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All-cause mortality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0.71 (0.69, 0.72)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0.65 (0.54, 0.77)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-0.05 (-0.16, 0.06)</a:t>
                      </a:r>
                      <a:endParaRPr lang="en-GB" sz="600" b="0" i="0" dirty="0">
                        <a:solidFill>
                          <a:schemeClr val="tx1"/>
                        </a:solidFill>
                        <a:latin typeface="CaeciliaLTPro-85Heavy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1261" marR="11261" marT="0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46419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B79E11FD-AC37-E379-519D-54B46D163900}"/>
              </a:ext>
            </a:extLst>
          </p:cNvPr>
          <p:cNvSpPr txBox="1"/>
          <p:nvPr/>
        </p:nvSpPr>
        <p:spPr>
          <a:xfrm>
            <a:off x="1948881" y="962022"/>
            <a:ext cx="4232112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Table. Estimated 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-year risks of stroke in emulated target trials in kidney failure on peritoneal dialysis, HK CDARS </a:t>
            </a:r>
            <a:endParaRPr lang="en-GB" sz="600" b="1" kern="100" dirty="0">
              <a:solidFill>
                <a:srgbClr val="000000"/>
              </a:solidFill>
              <a:effectLst/>
              <a:latin typeface="Palatino Linotype" panose="020405020505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BA82DF-946D-C3EB-C26A-294296838117}"/>
              </a:ext>
            </a:extLst>
          </p:cNvPr>
          <p:cNvSpPr txBox="1"/>
          <p:nvPr/>
        </p:nvSpPr>
        <p:spPr>
          <a:xfrm>
            <a:off x="1938762" y="1705791"/>
            <a:ext cx="4493788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Figure. 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Estimated risk of 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composite outcome, all-bleeding events, ischemic stroke and haemorrhagic stroke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incidence over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3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years, by oral anticoagulant 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drug 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or not, on peritoneal dialysis patients, HK CDARS data 200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- 20</a:t>
            </a:r>
            <a:r>
              <a:rPr lang="en-US" sz="600" b="1" kern="1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22</a:t>
            </a:r>
            <a:endParaRPr lang="en-GB" sz="600" b="1" kern="100" dirty="0">
              <a:solidFill>
                <a:srgbClr val="000000"/>
              </a:solidFill>
              <a:effectLst/>
              <a:latin typeface="Palatino Linotype" panose="020405020505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312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CaeciliaLTPro-75Bold</vt:lpstr>
      <vt:lpstr>CaeciliaLTPro-76BoldItalic</vt:lpstr>
      <vt:lpstr>CaeciliaLTPro-85Heavy</vt:lpstr>
      <vt:lpstr>Arial</vt:lpstr>
      <vt:lpstr>Calibri</vt:lpstr>
      <vt:lpstr>Palatino Linotype</vt:lpstr>
      <vt:lpstr>Office Theme</vt:lpstr>
      <vt:lpstr>Effectiveness and safety of oral anticoagulant use in dialysis patients with atrial fibrillation or atrial flutter in Hong Kong - a sequential target trial emulation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NDT GA final version</dc:title>
  <dc:creator>Caroline Vinck</dc:creator>
  <cp:lastModifiedBy>Min Fan</cp:lastModifiedBy>
  <cp:revision>5</cp:revision>
  <dcterms:created xsi:type="dcterms:W3CDTF">2023-04-24T14:38:54Z</dcterms:created>
  <dcterms:modified xsi:type="dcterms:W3CDTF">2025-07-16T05:55:42Z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2023-04-24T00:00:00Z</vt:filetime>
  </property>
  <property fmtid="{D5CDD505-2E9C-101B-9397-08002B2CF9AE}" pid="3" name="Creator">
    <vt:lpwstr>Adobe Illustrator 26.5 (Macintosh)</vt:lpwstr>
  </property>
  <property fmtid="{D5CDD505-2E9C-101B-9397-08002B2CF9AE}" pid="4" name="LastSaved">
    <vt:filetime>2023-04-24T00:00:00Z</vt:filetime>
  </property>
  <property fmtid="{D5CDD505-2E9C-101B-9397-08002B2CF9AE}" pid="5" name="Producer">
    <vt:lpwstr>Adobe PDF library 16.07</vt:lpwstr>
  </property>
  <property fmtid="{D5CDD505-2E9C-101B-9397-08002B2CF9AE}" pid="6" name="MSIP_Label_be5cb09a-2992-49d6-8ac9-5f63e7b1ad2f_Enabled">
    <vt:lpwstr>true</vt:lpwstr>
  </property>
  <property fmtid="{D5CDD505-2E9C-101B-9397-08002B2CF9AE}" pid="7" name="MSIP_Label_be5cb09a-2992-49d6-8ac9-5f63e7b1ad2f_SetDate">
    <vt:lpwstr>2023-04-28T08:55:26Z</vt:lpwstr>
  </property>
  <property fmtid="{D5CDD505-2E9C-101B-9397-08002B2CF9AE}" pid="8" name="MSIP_Label_be5cb09a-2992-49d6-8ac9-5f63e7b1ad2f_Method">
    <vt:lpwstr>Standard</vt:lpwstr>
  </property>
  <property fmtid="{D5CDD505-2E9C-101B-9397-08002B2CF9AE}" pid="9" name="MSIP_Label_be5cb09a-2992-49d6-8ac9-5f63e7b1ad2f_Name">
    <vt:lpwstr>Controlled</vt:lpwstr>
  </property>
  <property fmtid="{D5CDD505-2E9C-101B-9397-08002B2CF9AE}" pid="10" name="MSIP_Label_be5cb09a-2992-49d6-8ac9-5f63e7b1ad2f_SiteId">
    <vt:lpwstr>91761b62-4c45-43f5-9f0e-be8ad9b551ff</vt:lpwstr>
  </property>
  <property fmtid="{D5CDD505-2E9C-101B-9397-08002B2CF9AE}" pid="11" name="MSIP_Label_be5cb09a-2992-49d6-8ac9-5f63e7b1ad2f_ActionId">
    <vt:lpwstr>d266527c-278a-446c-b4ec-46c1ebb6182e</vt:lpwstr>
  </property>
  <property fmtid="{D5CDD505-2E9C-101B-9397-08002B2CF9AE}" pid="12" name="MSIP_Label_be5cb09a-2992-49d6-8ac9-5f63e7b1ad2f_ContentBits">
    <vt:lpwstr>0</vt:lpwstr>
  </property>
</Properties>
</file>